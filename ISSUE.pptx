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94823e1f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394823e1f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2a01109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2a01109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2a01109a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2a01109a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2a01109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2a01109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2a01109a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2a01109a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2a01109a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2a01109a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2a01109a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2a01109a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53d15935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53d15935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53d15935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53d15935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353d15935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353d15935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53d15935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353d15935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53d15935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353d15935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353d159351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353d15935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353d159351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353d159351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53d159351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353d159351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353d159351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353d159351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2a01109a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2a01109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ckdals6932/portfol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7250" y="1557150"/>
            <a:ext cx="46695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ISSUE</a:t>
            </a:r>
            <a:endParaRPr b="1" sz="102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사용자 순번	  : 회원가입 시 유저의 고유 번호</a:t>
            </a:r>
            <a:br>
              <a:rPr lang="ko" sz="600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권한 순번 :	  : 현재 유저가 갖고 있는 권한 번호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사용자 아이디 : 회원가입시 입력 된 아이디 (필수 입력)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사용자 명	  :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회원가입시 입력 된 이름 (필수 입력)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비밀번호	  :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회원가입시 입력 된 비밀번호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생년월일 	  :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회원가입시 입력 된 생년월일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핸드폰 번호    :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회원가입시 입력 된 번호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상태	  :  현재 업무투입 상태 확인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오류 개수   	  : 로그인 실패 횟수 확인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27462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테이블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746200" y="0"/>
            <a:ext cx="41487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USER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</a:t>
            </a: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4" name="Google Shape;64;p14" title="User 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900" y="1051100"/>
            <a:ext cx="6086474" cy="35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ko" sz="600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권한 순번 	  : 권한마다 고유 번호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권한 코드       : User, Admin, View 권한 선택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권한 명	  : 권한 코드에 대한 권한 명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0"/>
            <a:ext cx="27462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테이블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746200" y="0"/>
            <a:ext cx="41487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AUTH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4" name="Google Shape;74;p15" title="Auth 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88" y="1371688"/>
            <a:ext cx="6086475" cy="28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ko" sz="600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조치사항 순번 : 조치사항 생성 시 고유 번호 할당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조치사항 코드 : 조치사항 고유 코드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조치사항 제목 : 조치사항 생성 시 제목 작성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조치사항 내용 : 요청자에게 전달 할 내용 작성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조치사항 타입 : 오류, 기능 추가 및 요구할 분야 선택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상태 코드       : 조치사항 저리 상태에 따라 변경(ex:처리중)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기한 일자       : 기한 설정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스탭              : 스탭을 통해 조치사항 순서 판별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코드 순번       : 오류가 발생한 화면 설정(ex:메인화면)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0" y="0"/>
            <a:ext cx="27462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테이블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746200" y="0"/>
            <a:ext cx="41487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ITEM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4" name="Google Shape;84;p16" title="Item 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125" y="1063250"/>
            <a:ext cx="6096000" cy="34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ko" sz="600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요청 순번       : 요청자에 고유 번호 생성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요청자           : 조치사항 생성한 사용자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처리자           : 요청자가 설정한 사용자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요구 제목       : 조치사항 작성 시 제목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요구 내용       : 요청자에게 전달할 내용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상태 코드       : 조치 사항에 대한 현재 상태 코드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0" y="0"/>
            <a:ext cx="27462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테이블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2746200" y="0"/>
            <a:ext cx="41487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ITEM_REQUEST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4" name="Google Shape;94;p17" title="item_request 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125" y="1046375"/>
            <a:ext cx="60960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ko" sz="600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공지사항 순번 : 공지사항 생성 시 고유 번호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제목              : 공지사항 제목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내용(text)       : 공지사항 내용 작성 시 TXT 형식으로 저장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내용(HTML)    : 공지사항 내용 작성 시 HTML형식으로 저장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정렬              : 메인 화면 공지사항 우선순위 설정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 여부       : 사용할 공지사항를 선택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조회수           : 공지사항에 조회수 체크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0" y="0"/>
            <a:ext cx="27462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테이블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2746200" y="0"/>
            <a:ext cx="41487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BOARD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4" name="Google Shape;104;p18" title="Board 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125" y="1069325"/>
            <a:ext cx="6096000" cy="34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사용자 ID와 PW 데이터베이스에서 대조하여 로그인 기능, 회원가입 팝업 생성하는 로그인 화면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[1 - Login 버튼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사용자 ID 와 PW를 확인 후 로그인 실행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[2 - 회원가입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회원가입 팝업창을 생성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2876" y="706575"/>
            <a:ext cx="4214575" cy="415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19"/>
          <p:cNvGrpSpPr/>
          <p:nvPr/>
        </p:nvGrpSpPr>
        <p:grpSpPr>
          <a:xfrm>
            <a:off x="1844272" y="3150152"/>
            <a:ext cx="400668" cy="330804"/>
            <a:chOff x="5068465" y="-1341692"/>
            <a:chExt cx="201300" cy="166200"/>
          </a:xfrm>
        </p:grpSpPr>
        <p:sp>
          <p:nvSpPr>
            <p:cNvPr id="116" name="Google Shape;116;p19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9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18" name="Google Shape;118;p19"/>
          <p:cNvGrpSpPr/>
          <p:nvPr/>
        </p:nvGrpSpPr>
        <p:grpSpPr>
          <a:xfrm>
            <a:off x="3644072" y="3895627"/>
            <a:ext cx="400668" cy="330804"/>
            <a:chOff x="5068465" y="-1341692"/>
            <a:chExt cx="201300" cy="166200"/>
          </a:xfrm>
        </p:grpSpPr>
        <p:sp>
          <p:nvSpPr>
            <p:cNvPr id="119" name="Google Shape;119;p19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9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2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121" name="Google Shape;121;p19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사용자는 회원가입을 통해 시스템에 등록을 한다.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[ 1 - Vaildation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아이디 중복 체크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비밀번호 유효성 체크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[ 2 -  비밀번호 유효성  확인]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비밀번호 양식 표시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[ 3 - 요청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시스템 관리자에게 회원가입 요청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1000425" y="910575"/>
            <a:ext cx="4894200" cy="3714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700" y="957275"/>
            <a:ext cx="4900850" cy="371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32" name="Google Shape;132;p20"/>
          <p:cNvGrpSpPr/>
          <p:nvPr/>
        </p:nvGrpSpPr>
        <p:grpSpPr>
          <a:xfrm>
            <a:off x="4371659" y="1951502"/>
            <a:ext cx="400668" cy="330804"/>
            <a:chOff x="5068465" y="-1341692"/>
            <a:chExt cx="201300" cy="166200"/>
          </a:xfrm>
        </p:grpSpPr>
        <p:sp>
          <p:nvSpPr>
            <p:cNvPr id="133" name="Google Shape;133;p20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0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2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35" name="Google Shape;135;p20"/>
          <p:cNvGrpSpPr/>
          <p:nvPr/>
        </p:nvGrpSpPr>
        <p:grpSpPr>
          <a:xfrm>
            <a:off x="4899397" y="3727352"/>
            <a:ext cx="400668" cy="330804"/>
            <a:chOff x="5068465" y="-1341692"/>
            <a:chExt cx="201300" cy="166200"/>
          </a:xfrm>
        </p:grpSpPr>
        <p:sp>
          <p:nvSpPr>
            <p:cNvPr id="136" name="Google Shape;136;p20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3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138" name="Google Shape;138;p20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Login &gt; </a:t>
            </a: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회원가입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42" name="Google Shape;142;p20"/>
          <p:cNvGrpSpPr/>
          <p:nvPr/>
        </p:nvGrpSpPr>
        <p:grpSpPr>
          <a:xfrm>
            <a:off x="774659" y="855777"/>
            <a:ext cx="400668" cy="330804"/>
            <a:chOff x="5068465" y="-1341692"/>
            <a:chExt cx="201300" cy="166200"/>
          </a:xfrm>
        </p:grpSpPr>
        <p:sp>
          <p:nvSpPr>
            <p:cNvPr id="143" name="Google Shape;143;p20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0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Main(Dashboard) 화면으로 해당 사용자 관련 정보를 간단하게 확인할 수 있다.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[ 1 -  ISSUE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아이콘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Main(Dashboard)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로 이동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[ 2 -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메뉴 테이블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클릭 이벤트를 통해 해당 페이지로 이동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[ 3 -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시스템 공지사항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CKEditor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를 통해 제작된 공지사항을 우선 순위에 따라 제공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[ 4 -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사용자 활동 정보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사용자의 조치사항 요청 해결 수 제공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조치사항 해결 진행 수 제공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[ 5 - 사용자 기본 정보 제공]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사용자 기본 정보 제공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0" y="1187113"/>
            <a:ext cx="5845851" cy="3061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21"/>
          <p:cNvGrpSpPr/>
          <p:nvPr/>
        </p:nvGrpSpPr>
        <p:grpSpPr>
          <a:xfrm>
            <a:off x="474197" y="1448827"/>
            <a:ext cx="400668" cy="330804"/>
            <a:chOff x="5068465" y="-1341692"/>
            <a:chExt cx="201300" cy="166200"/>
          </a:xfrm>
        </p:grpSpPr>
        <p:sp>
          <p:nvSpPr>
            <p:cNvPr id="154" name="Google Shape;154;p21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1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2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56" name="Google Shape;156;p21"/>
          <p:cNvGrpSpPr/>
          <p:nvPr/>
        </p:nvGrpSpPr>
        <p:grpSpPr>
          <a:xfrm>
            <a:off x="355197" y="960227"/>
            <a:ext cx="400668" cy="330804"/>
            <a:chOff x="5068465" y="-1341692"/>
            <a:chExt cx="201300" cy="166200"/>
          </a:xfrm>
        </p:grpSpPr>
        <p:sp>
          <p:nvSpPr>
            <p:cNvPr id="157" name="Google Shape;157;p21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1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59" name="Google Shape;159;p21"/>
          <p:cNvGrpSpPr/>
          <p:nvPr/>
        </p:nvGrpSpPr>
        <p:grpSpPr>
          <a:xfrm>
            <a:off x="1123797" y="1779627"/>
            <a:ext cx="400668" cy="330804"/>
            <a:chOff x="5068465" y="-1341692"/>
            <a:chExt cx="201300" cy="166200"/>
          </a:xfrm>
        </p:grpSpPr>
        <p:sp>
          <p:nvSpPr>
            <p:cNvPr id="160" name="Google Shape;160;p21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1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3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62" name="Google Shape;162;p21"/>
          <p:cNvGrpSpPr/>
          <p:nvPr/>
        </p:nvGrpSpPr>
        <p:grpSpPr>
          <a:xfrm>
            <a:off x="4127722" y="1734327"/>
            <a:ext cx="400668" cy="330804"/>
            <a:chOff x="5068465" y="-1341692"/>
            <a:chExt cx="201300" cy="166200"/>
          </a:xfrm>
        </p:grpSpPr>
        <p:sp>
          <p:nvSpPr>
            <p:cNvPr id="163" name="Google Shape;163;p21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1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4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65" name="Google Shape;165;p21"/>
          <p:cNvGrpSpPr/>
          <p:nvPr/>
        </p:nvGrpSpPr>
        <p:grpSpPr>
          <a:xfrm>
            <a:off x="4127722" y="2431852"/>
            <a:ext cx="400668" cy="330804"/>
            <a:chOff x="5068465" y="-1341692"/>
            <a:chExt cx="201300" cy="166200"/>
          </a:xfrm>
        </p:grpSpPr>
        <p:sp>
          <p:nvSpPr>
            <p:cNvPr id="166" name="Google Shape;166;p21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5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168" name="Google Shape;168;p21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시스템 관리자는 공지사항을 등록 / 수정 / 삭제 할 수 있습니다.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[ 1 - Add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Clear 기능을 구현하여 작성한 내용을 초기화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[ 2 - Delete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선택한 공지사항을 시스템에서 삭제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[ 3 - Save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작성한 공지사항을 시스템에 등록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[ 4 - 공지사항 제작]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CKEditor, 테이블를 이용하여 작성한 내용을 시스템에 저장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사용여부 및 정렬 순서를 통해 Main(Dashboard) 화면에 제공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9" name="Google Shape;17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200" y="1234763"/>
            <a:ext cx="5845852" cy="306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22"/>
          <p:cNvGrpSpPr/>
          <p:nvPr/>
        </p:nvGrpSpPr>
        <p:grpSpPr>
          <a:xfrm>
            <a:off x="3247122" y="1691052"/>
            <a:ext cx="400668" cy="330804"/>
            <a:chOff x="5068465" y="-1341692"/>
            <a:chExt cx="201300" cy="166200"/>
          </a:xfrm>
        </p:grpSpPr>
        <p:sp>
          <p:nvSpPr>
            <p:cNvPr id="181" name="Google Shape;181;p22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2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4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83" name="Google Shape;183;p22"/>
          <p:cNvGrpSpPr/>
          <p:nvPr/>
        </p:nvGrpSpPr>
        <p:grpSpPr>
          <a:xfrm>
            <a:off x="5684988" y="1526098"/>
            <a:ext cx="236798" cy="292098"/>
            <a:chOff x="5062839" y="-1337815"/>
            <a:chExt cx="150300" cy="185400"/>
          </a:xfrm>
        </p:grpSpPr>
        <p:sp>
          <p:nvSpPr>
            <p:cNvPr id="184" name="Google Shape;184;p22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5897288" y="1526098"/>
            <a:ext cx="236798" cy="292098"/>
            <a:chOff x="5062839" y="-1337815"/>
            <a:chExt cx="150300" cy="185400"/>
          </a:xfrm>
        </p:grpSpPr>
        <p:sp>
          <p:nvSpPr>
            <p:cNvPr id="187" name="Google Shape;187;p22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2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2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189" name="Google Shape;189;p22"/>
          <p:cNvGrpSpPr/>
          <p:nvPr/>
        </p:nvGrpSpPr>
        <p:grpSpPr>
          <a:xfrm>
            <a:off x="6083263" y="1526098"/>
            <a:ext cx="236798" cy="292098"/>
            <a:chOff x="5062839" y="-1337815"/>
            <a:chExt cx="150300" cy="185400"/>
          </a:xfrm>
        </p:grpSpPr>
        <p:sp>
          <p:nvSpPr>
            <p:cNvPr id="190" name="Google Shape;190;p22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2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3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192" name="Google Shape;192;p22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공지사항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 &gt; 공지사항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관리자는 조치사항을 처리자를 지정하여 요청할 수 있습니다.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요청자 시점</a:t>
            </a: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[ 1 -  Add ]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새로운 조치사항 팝업을 생성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[ 2 - Delete ]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선택한 조치사항를 시스템에서 삭제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[ 3 - 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조치사항 팝업창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Type : select box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로 구성, 옵션값으로 오류, 기능수정, 기능추가, 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질문 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구성 및 선택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메뉴 : 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select box로 구성, 각 화면명으로 옵션 구성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제목, 요청 내용 : 전달하고자 하는 내용을 작성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처리자 : select box로 구성, 투입(IN) 상태 인원으로 옵션 설정 및 선택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처리 기한 : Datepicker를 사용하여 날짜를 설정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상태 : 조치사항 처리 과정에 따라 (임시 저장, 요청 확인중, 개발 진행중, 테스트 요청, 완료) 상태 순으로 변경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요청자 : 현재 로그인한 계정으로 설정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작성일자 : 현재 시간 전송 및 저장 시 현재 시간으로 설정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[ 4 - 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전송</a:t>
            </a: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작성한 요구사항 내용을 처리자에게 전송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메시지 상태가 요청 확인중으로 변경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[ 5 - Save ]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latin typeface="Malgun Gothic"/>
                <a:ea typeface="Malgun Gothic"/>
                <a:cs typeface="Malgun Gothic"/>
                <a:sym typeface="Malgun Gothic"/>
              </a:rPr>
              <a:t>작성한 내용을 임시 저장</a:t>
            </a:r>
            <a:endParaRPr sz="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3" name="Google Shape;20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675" y="1061375"/>
            <a:ext cx="6186900" cy="3503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23"/>
          <p:cNvGrpSpPr/>
          <p:nvPr/>
        </p:nvGrpSpPr>
        <p:grpSpPr>
          <a:xfrm>
            <a:off x="5944034" y="1226593"/>
            <a:ext cx="203672" cy="251273"/>
            <a:chOff x="5062839" y="-1337815"/>
            <a:chExt cx="150300" cy="185400"/>
          </a:xfrm>
        </p:grpSpPr>
        <p:sp>
          <p:nvSpPr>
            <p:cNvPr id="205" name="Google Shape;205;p23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07" name="Google Shape;207;p23"/>
          <p:cNvGrpSpPr/>
          <p:nvPr/>
        </p:nvGrpSpPr>
        <p:grpSpPr>
          <a:xfrm>
            <a:off x="6147709" y="1226593"/>
            <a:ext cx="203672" cy="251273"/>
            <a:chOff x="5062839" y="-1337815"/>
            <a:chExt cx="150300" cy="185400"/>
          </a:xfrm>
        </p:grpSpPr>
        <p:sp>
          <p:nvSpPr>
            <p:cNvPr id="208" name="Google Shape;208;p23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2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10" name="Google Shape;210;p23"/>
          <p:cNvGrpSpPr/>
          <p:nvPr/>
        </p:nvGrpSpPr>
        <p:grpSpPr>
          <a:xfrm>
            <a:off x="2177422" y="1894777"/>
            <a:ext cx="400668" cy="330804"/>
            <a:chOff x="5068465" y="-1341692"/>
            <a:chExt cx="201300" cy="166200"/>
          </a:xfrm>
        </p:grpSpPr>
        <p:sp>
          <p:nvSpPr>
            <p:cNvPr id="211" name="Google Shape;211;p23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3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3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13" name="Google Shape;213;p23"/>
          <p:cNvGrpSpPr/>
          <p:nvPr/>
        </p:nvGrpSpPr>
        <p:grpSpPr>
          <a:xfrm>
            <a:off x="3918284" y="2187718"/>
            <a:ext cx="203672" cy="251273"/>
            <a:chOff x="5062839" y="-1337815"/>
            <a:chExt cx="150300" cy="185400"/>
          </a:xfrm>
        </p:grpSpPr>
        <p:sp>
          <p:nvSpPr>
            <p:cNvPr id="214" name="Google Shape;214;p23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3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4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16" name="Google Shape;216;p23"/>
          <p:cNvGrpSpPr/>
          <p:nvPr/>
        </p:nvGrpSpPr>
        <p:grpSpPr>
          <a:xfrm>
            <a:off x="4121959" y="2187718"/>
            <a:ext cx="203672" cy="251273"/>
            <a:chOff x="5062839" y="-1337815"/>
            <a:chExt cx="150300" cy="185400"/>
          </a:xfrm>
        </p:grpSpPr>
        <p:sp>
          <p:nvSpPr>
            <p:cNvPr id="217" name="Google Shape;217;p23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5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219" name="Google Shape;219;p23"/>
          <p:cNvSpPr/>
          <p:nvPr/>
        </p:nvSpPr>
        <p:spPr>
          <a:xfrm>
            <a:off x="6351375" y="1408500"/>
            <a:ext cx="139200" cy="1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조치사항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 &gt; 조치사항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요청자에게 조치사항을 받은 처리자는 요청 내용을 확인하고 처리한 내용을 작성.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처리자 시점</a:t>
            </a: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[ 1 - 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처리자 팝업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요청된 처리자는 내용을 확인하고 요청사항을 해결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처리 내용을 작성하고 요청자에게 다시 메시지를 전송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메시지 상태가 테스트 요청 상태로 변경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1" name="Google Shape;2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675" y="1061375"/>
            <a:ext cx="6186902" cy="3503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6308075" y="1443725"/>
            <a:ext cx="167700" cy="1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24"/>
          <p:cNvGrpSpPr/>
          <p:nvPr/>
        </p:nvGrpSpPr>
        <p:grpSpPr>
          <a:xfrm>
            <a:off x="2021672" y="1924727"/>
            <a:ext cx="400668" cy="330804"/>
            <a:chOff x="5068465" y="-1341692"/>
            <a:chExt cx="201300" cy="166200"/>
          </a:xfrm>
        </p:grpSpPr>
        <p:sp>
          <p:nvSpPr>
            <p:cNvPr id="234" name="Google Shape;234;p24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4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236" name="Google Shape;236;p24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조치사항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 &gt; 조치사항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처리자의 내용을 확인하고 최종 Review를 작성 후 반려, 완료, 임시 저장이 가능하도록 구현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[요청자 시점]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[ 1 - 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반려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처리자의 처리 내용 리뷰를 확인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처리 내용에 대해  수정 사항 요청자 review를 작성 후 처리자에게  메시지 전송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[ 2 - 완료 ]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요청 내용에 대해 처리 완료 확인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요청자 Review를 작성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완료일자에 현재 시각이 설정되고 조치사항이 저장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[ 3 - 저장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작성한 메시지를 임시 저장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303675" y="1061375"/>
            <a:ext cx="6186904" cy="35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6308075" y="1443725"/>
            <a:ext cx="167700" cy="1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25"/>
          <p:cNvGrpSpPr/>
          <p:nvPr/>
        </p:nvGrpSpPr>
        <p:grpSpPr>
          <a:xfrm>
            <a:off x="4127384" y="2179093"/>
            <a:ext cx="203672" cy="251273"/>
            <a:chOff x="5062839" y="-1337815"/>
            <a:chExt cx="150300" cy="185400"/>
          </a:xfrm>
        </p:grpSpPr>
        <p:sp>
          <p:nvSpPr>
            <p:cNvPr id="250" name="Google Shape;250;p25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5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52" name="Google Shape;252;p25"/>
          <p:cNvGrpSpPr/>
          <p:nvPr/>
        </p:nvGrpSpPr>
        <p:grpSpPr>
          <a:xfrm>
            <a:off x="4331059" y="2179093"/>
            <a:ext cx="203672" cy="251273"/>
            <a:chOff x="5062839" y="-1337815"/>
            <a:chExt cx="150300" cy="185400"/>
          </a:xfrm>
        </p:grpSpPr>
        <p:sp>
          <p:nvSpPr>
            <p:cNvPr id="253" name="Google Shape;253;p25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5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2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4534734" y="2179093"/>
            <a:ext cx="203672" cy="251273"/>
            <a:chOff x="5062839" y="-1337815"/>
            <a:chExt cx="150300" cy="185400"/>
          </a:xfrm>
        </p:grpSpPr>
        <p:sp>
          <p:nvSpPr>
            <p:cNvPr id="256" name="Google Shape;256;p25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3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258" name="Google Shape;258;p25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조치사항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 &gt; 조치사항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조치사항이 최종 완료 되었을 때 상태가 완료 상태로 변경되고 모든 처리가 완료된 상태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675" y="1061375"/>
            <a:ext cx="6186902" cy="3503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6308075" y="1443725"/>
            <a:ext cx="167700" cy="17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조치사항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 &gt; 조치사항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시스템 관리자는 사용자 정보 및 사용자 권한, 상태를 수정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[ 1 - User Add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필수 : 사용자 명, 사용자 ID, 비밀번호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Validation : 회원가입 화면과 동일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입력한 데이터를 초기화 초기 상태로 변경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[ 2 - User Delete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선택한 사용자를 시스템에서 제거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[ 3 - User Save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작성 및 수정 한 User Data를 시스템에 저장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[ 4 - User Info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User List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에서 선택한 사용자 정보 제공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선택 사용자 정보 수정 가능 (선택시 사용자 ID는 Read Only)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[ 5 - User List ] 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모든 사용자가 리스트에 표시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사용자 이름 순으로 정렬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675" y="1061375"/>
            <a:ext cx="6186899" cy="35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83" name="Google Shape;283;p27"/>
          <p:cNvGrpSpPr/>
          <p:nvPr/>
        </p:nvGrpSpPr>
        <p:grpSpPr>
          <a:xfrm>
            <a:off x="5858659" y="1388343"/>
            <a:ext cx="203672" cy="251273"/>
            <a:chOff x="5062839" y="-1337815"/>
            <a:chExt cx="150300" cy="185400"/>
          </a:xfrm>
        </p:grpSpPr>
        <p:sp>
          <p:nvSpPr>
            <p:cNvPr id="284" name="Google Shape;284;p27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7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86" name="Google Shape;286;p27"/>
          <p:cNvGrpSpPr/>
          <p:nvPr/>
        </p:nvGrpSpPr>
        <p:grpSpPr>
          <a:xfrm>
            <a:off x="6062334" y="1388343"/>
            <a:ext cx="203672" cy="251273"/>
            <a:chOff x="5062839" y="-1337815"/>
            <a:chExt cx="150300" cy="185400"/>
          </a:xfrm>
        </p:grpSpPr>
        <p:sp>
          <p:nvSpPr>
            <p:cNvPr id="287" name="Google Shape;287;p27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7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2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89" name="Google Shape;289;p27"/>
          <p:cNvGrpSpPr/>
          <p:nvPr/>
        </p:nvGrpSpPr>
        <p:grpSpPr>
          <a:xfrm>
            <a:off x="6266009" y="1388343"/>
            <a:ext cx="203672" cy="251273"/>
            <a:chOff x="5062839" y="-1337815"/>
            <a:chExt cx="150300" cy="185400"/>
          </a:xfrm>
        </p:grpSpPr>
        <p:sp>
          <p:nvSpPr>
            <p:cNvPr id="290" name="Google Shape;290;p27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7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3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92" name="Google Shape;292;p27"/>
          <p:cNvGrpSpPr/>
          <p:nvPr/>
        </p:nvGrpSpPr>
        <p:grpSpPr>
          <a:xfrm>
            <a:off x="604859" y="1571302"/>
            <a:ext cx="400668" cy="330804"/>
            <a:chOff x="5068465" y="-1341692"/>
            <a:chExt cx="201300" cy="166200"/>
          </a:xfrm>
        </p:grpSpPr>
        <p:sp>
          <p:nvSpPr>
            <p:cNvPr id="293" name="Google Shape;293;p27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5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295" name="Google Shape;295;p27"/>
          <p:cNvGrpSpPr/>
          <p:nvPr/>
        </p:nvGrpSpPr>
        <p:grpSpPr>
          <a:xfrm>
            <a:off x="4171334" y="1571302"/>
            <a:ext cx="400668" cy="330804"/>
            <a:chOff x="5068465" y="-1341692"/>
            <a:chExt cx="201300" cy="166200"/>
          </a:xfrm>
        </p:grpSpPr>
        <p:sp>
          <p:nvSpPr>
            <p:cNvPr id="296" name="Google Shape;296;p27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7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4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298" name="Google Shape;298;p27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p27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사용자관리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27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메인화면 &gt; 사용자 관리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"/>
          <p:cNvSpPr txBox="1"/>
          <p:nvPr>
            <p:ph type="ctrTitle"/>
          </p:nvPr>
        </p:nvSpPr>
        <p:spPr>
          <a:xfrm>
            <a:off x="6894900" y="291900"/>
            <a:ext cx="2249100" cy="4851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latin typeface="Malgun Gothic"/>
                <a:ea typeface="Malgun Gothic"/>
                <a:cs typeface="Malgun Gothic"/>
                <a:sym typeface="Malgun Gothic"/>
              </a:rPr>
              <a:t>시스템 관리자는 사용자 정보 및 사용자 권한, 상태를 수정</a:t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[ 1 - Auth Add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입력한 내용를 초기화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[ 2 -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Auth Delete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선택한 권한 시스템에서 삭제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[ 3 - Auth Save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입력한 내용를 데이터베이스에 수정 및 저장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[ 4 - Auth List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시스템에서 권한 코드, 명, 작성자, 작성 일자 정보 제공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[ 5 - Auth Info ]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권한 코드 : </a:t>
            </a:r>
            <a:r>
              <a:rPr lang="ko" sz="600">
                <a:latin typeface="Malgun Gothic"/>
                <a:ea typeface="Malgun Gothic"/>
                <a:cs typeface="Malgun Gothic"/>
                <a:sym typeface="Malgun Gothic"/>
              </a:rPr>
              <a:t>select box로 구성, USER, ADMIN, VIEW로 구성</a:t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130875" y="603925"/>
            <a:ext cx="6532500" cy="441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675" y="1061375"/>
            <a:ext cx="6186902" cy="35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8"/>
          <p:cNvSpPr txBox="1"/>
          <p:nvPr>
            <p:ph type="ctrTitle"/>
          </p:nvPr>
        </p:nvSpPr>
        <p:spPr>
          <a:xfrm>
            <a:off x="6894900" y="0"/>
            <a:ext cx="2249100" cy="291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latin typeface="Malgun Gothic"/>
                <a:ea typeface="Malgun Gothic"/>
                <a:cs typeface="Malgun Gothic"/>
                <a:sym typeface="Malgun Gothic"/>
              </a:rPr>
              <a:t>기능설명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0" name="Google Shape;310;p28"/>
          <p:cNvGrpSpPr/>
          <p:nvPr/>
        </p:nvGrpSpPr>
        <p:grpSpPr>
          <a:xfrm>
            <a:off x="5858659" y="1388343"/>
            <a:ext cx="203672" cy="251273"/>
            <a:chOff x="5062839" y="-1337815"/>
            <a:chExt cx="150300" cy="185400"/>
          </a:xfrm>
        </p:grpSpPr>
        <p:sp>
          <p:nvSpPr>
            <p:cNvPr id="311" name="Google Shape;311;p28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8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1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313" name="Google Shape;313;p28"/>
          <p:cNvGrpSpPr/>
          <p:nvPr/>
        </p:nvGrpSpPr>
        <p:grpSpPr>
          <a:xfrm>
            <a:off x="6062334" y="1388343"/>
            <a:ext cx="203672" cy="251273"/>
            <a:chOff x="5062839" y="-1337815"/>
            <a:chExt cx="150300" cy="185400"/>
          </a:xfrm>
        </p:grpSpPr>
        <p:sp>
          <p:nvSpPr>
            <p:cNvPr id="314" name="Google Shape;314;p28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8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2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316" name="Google Shape;316;p28"/>
          <p:cNvGrpSpPr/>
          <p:nvPr/>
        </p:nvGrpSpPr>
        <p:grpSpPr>
          <a:xfrm>
            <a:off x="6266009" y="1388343"/>
            <a:ext cx="203672" cy="251273"/>
            <a:chOff x="5062839" y="-1337815"/>
            <a:chExt cx="150300" cy="185400"/>
          </a:xfrm>
        </p:grpSpPr>
        <p:sp>
          <p:nvSpPr>
            <p:cNvPr id="317" name="Google Shape;317;p28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8"/>
            <p:cNvSpPr txBox="1"/>
            <p:nvPr/>
          </p:nvSpPr>
          <p:spPr>
            <a:xfrm>
              <a:off x="5062839" y="-1337815"/>
              <a:ext cx="150300" cy="1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rmAutofit fontScale="62500" lnSpcReduction="20000"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ct val="78903"/>
                <a:buNone/>
              </a:pPr>
              <a:r>
                <a:rPr lang="ko" sz="1185">
                  <a:solidFill>
                    <a:schemeClr val="lt1"/>
                  </a:solidFill>
                </a:rPr>
                <a:t>3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grpSp>
        <p:nvGrpSpPr>
          <p:cNvPr id="319" name="Google Shape;319;p28"/>
          <p:cNvGrpSpPr/>
          <p:nvPr/>
        </p:nvGrpSpPr>
        <p:grpSpPr>
          <a:xfrm>
            <a:off x="802509" y="1597702"/>
            <a:ext cx="400668" cy="330804"/>
            <a:chOff x="5068465" y="-1341692"/>
            <a:chExt cx="201300" cy="166200"/>
          </a:xfrm>
        </p:grpSpPr>
        <p:sp>
          <p:nvSpPr>
            <p:cNvPr id="320" name="Google Shape;320;p28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8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4</a:t>
              </a:r>
              <a:endParaRPr sz="1185">
                <a:solidFill>
                  <a:schemeClr val="lt1"/>
                </a:solidFill>
              </a:endParaRPr>
            </a:p>
          </p:txBody>
        </p:sp>
      </p:grpSp>
      <p:sp>
        <p:nvSpPr>
          <p:cNvPr id="322" name="Google Shape;322;p28"/>
          <p:cNvSpPr txBox="1"/>
          <p:nvPr/>
        </p:nvSpPr>
        <p:spPr>
          <a:xfrm>
            <a:off x="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p28"/>
          <p:cNvSpPr txBox="1"/>
          <p:nvPr/>
        </p:nvSpPr>
        <p:spPr>
          <a:xfrm>
            <a:off x="1373950" y="0"/>
            <a:ext cx="13740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권한관리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p28"/>
          <p:cNvSpPr txBox="1"/>
          <p:nvPr/>
        </p:nvSpPr>
        <p:spPr>
          <a:xfrm>
            <a:off x="2747950" y="0"/>
            <a:ext cx="13740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highlight>
                  <a:schemeClr val="lt2"/>
                </a:highlight>
                <a:latin typeface="Malgun Gothic"/>
                <a:ea typeface="Malgun Gothic"/>
                <a:cs typeface="Malgun Gothic"/>
                <a:sym typeface="Malgun Gothic"/>
              </a:rPr>
              <a:t>메뉴 위치</a:t>
            </a:r>
            <a:endParaRPr sz="1800">
              <a:solidFill>
                <a:schemeClr val="dk2"/>
              </a:solidFill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p28"/>
          <p:cNvSpPr txBox="1"/>
          <p:nvPr/>
        </p:nvSpPr>
        <p:spPr>
          <a:xfrm>
            <a:off x="4121900" y="0"/>
            <a:ext cx="2772900" cy="4617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권한관리</a:t>
            </a:r>
            <a:endParaRPr sz="18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26" name="Google Shape;326;p28"/>
          <p:cNvGrpSpPr/>
          <p:nvPr/>
        </p:nvGrpSpPr>
        <p:grpSpPr>
          <a:xfrm>
            <a:off x="4625409" y="1597702"/>
            <a:ext cx="400668" cy="330804"/>
            <a:chOff x="5068465" y="-1341692"/>
            <a:chExt cx="201300" cy="166200"/>
          </a:xfrm>
        </p:grpSpPr>
        <p:sp>
          <p:nvSpPr>
            <p:cNvPr id="327" name="Google Shape;327;p28"/>
            <p:cNvSpPr/>
            <p:nvPr/>
          </p:nvSpPr>
          <p:spPr>
            <a:xfrm>
              <a:off x="5085191" y="-1311396"/>
              <a:ext cx="105600" cy="1056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8"/>
            <p:cNvSpPr txBox="1"/>
            <p:nvPr/>
          </p:nvSpPr>
          <p:spPr>
            <a:xfrm>
              <a:off x="5068465" y="-1341692"/>
              <a:ext cx="201300" cy="16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SzPts val="935"/>
                <a:buNone/>
              </a:pPr>
              <a:r>
                <a:rPr lang="ko" sz="1185">
                  <a:solidFill>
                    <a:schemeClr val="lt1"/>
                  </a:solidFill>
                </a:rPr>
                <a:t>5</a:t>
              </a:r>
              <a:endParaRPr sz="1185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9"/>
          <p:cNvSpPr txBox="1"/>
          <p:nvPr/>
        </p:nvSpPr>
        <p:spPr>
          <a:xfrm>
            <a:off x="336150" y="852600"/>
            <a:ext cx="8471700" cy="34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2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1" sz="102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457200" lvl="0" marL="3657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2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000">
                <a:solidFill>
                  <a:schemeClr val="dk2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자세한 코드 : </a:t>
            </a:r>
            <a:r>
              <a:rPr b="1" lang="ko" sz="3000" u="sng">
                <a:solidFill>
                  <a:schemeClr val="accent5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</a:t>
            </a:r>
            <a:endParaRPr b="1" sz="3000">
              <a:solidFill>
                <a:schemeClr val="dk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